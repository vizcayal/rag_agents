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78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4864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Desplegar un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RAG en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en AWS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Vizcaya  | AI Engineer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828800"/>
            <a:ext cx="777240" cy="64008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828800"/>
            <a:ext cx="777240" cy="640080"/>
          </a:xfrm>
          <a:prstGeom prst="rect">
            <a:avLst/>
          </a:prstGeom>
          <a:solidFill>
            <a:srgbClr val="3B82F6">
              <a:alpha val="8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18288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2651760"/>
            <a:ext cx="777240" cy="640080"/>
          </a:xfrm>
          <a:prstGeom prst="rect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26517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474720"/>
            <a:ext cx="777240" cy="64008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3474720"/>
            <a:ext cx="777240" cy="640080"/>
          </a:xfrm>
          <a:prstGeom prst="rect">
            <a:avLst/>
          </a:prstGeom>
          <a:solidFill>
            <a:srgbClr val="EC4899">
              <a:alpha val="80000"/>
            </a:srgbClr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3474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Reto: Pasar del Entorno Local a la Nube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Por qué los prototipos locales fallan en la vida 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68880" cy="1828800"/>
          </a:xfrm>
          <a:prstGeom prst="rect">
            <a:avLst/>
          </a:prstGeom>
          <a:solidFill>
            <a:srgbClr val="131B2E"/>
          </a:solidFill>
          <a:ln w="6350">
            <a:solidFill>
              <a:srgbClr val="EF4444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46888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 consultas simultáneas saturan los recursos locales de CPU/GPU.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468880" cy="1828800"/>
          </a:xfrm>
          <a:prstGeom prst="rect">
            <a:avLst/>
          </a:prstGeom>
          <a:solidFill>
            <a:srgbClr val="131B2E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240280"/>
            <a:ext cx="457200" cy="4572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90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Falta de aislamiento de red y de control de identidades (IAM).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2468880" cy="1828800"/>
          </a:xfrm>
          <a:prstGeom prst="rect">
            <a:avLst/>
          </a:prstGeom>
          <a:solidFill>
            <a:srgbClr val="131B2E"/>
          </a:solidFill>
          <a:ln w="6350">
            <a:solidFill>
              <a:srgbClr val="EC4899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2011680"/>
            <a:ext cx="246888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240280"/>
            <a:ext cx="457200" cy="4572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cambio de código interrumpe el servicio completo.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 </a:t>
            </a: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 en AWS combinando Serverless para la base vectorial y Fargate para la interfaz de usuario.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64592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en 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se conectan e interactúan las piezas del sistema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463040" cy="1005840"/>
          </a:xfrm>
          <a:prstGeom prst="rect">
            <a:avLst/>
          </a:prstGeom>
          <a:solidFill>
            <a:srgbClr val="3B82F6">
              <a:alpha val="2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ECS Fargate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5146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2528316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377440" y="2034540"/>
            <a:ext cx="1463040" cy="1005840"/>
          </a:xfrm>
          <a:prstGeom prst="rect">
            <a:avLst/>
          </a:prstGeom>
          <a:solidFill>
            <a:srgbClr val="8B5CF6">
              <a:alpha val="20000"/>
            </a:srgbClr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21259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6746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Bedrock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25374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0" y="2034540"/>
            <a:ext cx="1554480" cy="1005840"/>
          </a:xfrm>
          <a:prstGeom prst="rect">
            <a:avLst/>
          </a:prstGeom>
          <a:solidFill>
            <a:srgbClr val="00D4AA">
              <a:alpha val="20000"/>
            </a:srgbClr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06240" y="21259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26746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0" y="253746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2034540"/>
            <a:ext cx="1097280" cy="1005840"/>
          </a:xfrm>
          <a:prstGeom prst="rect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21259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KB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26746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8229600" cy="54864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56616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(Python) en contenedores ECS Fargate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40280" y="356616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7744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Agente LangGraph integrado con Bedrock APIs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0" y="3566160"/>
            <a:ext cx="54864" cy="5029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690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6908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OpenSearch Serverless con K.N.N + Amazon Titan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23560" y="35661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07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PDFs en S3 sincronizados via Bedrock Knowledge Base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3566160"/>
            <a:ext cx="54864" cy="5029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523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5236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 + IAM Policies de mínimos privilegios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280160" cy="32004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Contenedorizando con Docker y ECS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Alojamiento resiliente de la UI a mínimo coste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931920" cy="1234440"/>
          </a:xfrm>
          <a:prstGeom prst="rect">
            <a:avLst/>
          </a:prstGeom>
          <a:solidFill>
            <a:srgbClr val="131B2E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Imagen ligera con Python 3.11-slim y comprobación de salud activa.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931920" cy="1234440"/>
          </a:xfrm>
          <a:prstGeom prst="rect">
            <a:avLst/>
          </a:prstGeom>
          <a:solidFill>
            <a:srgbClr val="131B2E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54864" cy="12344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83480" y="2148840"/>
            <a:ext cx="502920" cy="502920"/>
          </a:xfrm>
          <a:prstGeom prst="ellipse">
            <a:avLst/>
          </a:prstGeom>
          <a:solidFill>
            <a:srgbClr val="00D4AA">
              <a:alpha val="25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2356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Bajo Coste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23560" y="2468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VPC sin NAT Gateways. Tareas ECS en subnets públicas con IP pública.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3931920" cy="1234440"/>
          </a:xfrm>
          <a:prstGeom prst="rect">
            <a:avLst/>
          </a:prstGeom>
          <a:solidFill>
            <a:srgbClr val="131B2E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73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ALB rutea tráfico HTTP y distribuye peticiones entre contenedores.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931920" cy="1234440"/>
          </a:xfrm>
          <a:prstGeom prst="rect">
            <a:avLst/>
          </a:prstGeom>
          <a:solidFill>
            <a:srgbClr val="131B2E"/>
          </a:solidFill>
          <a:ln w="6350">
            <a:solidFill>
              <a:srgbClr val="10B981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83480" y="3611880"/>
            <a:ext cx="502920" cy="50292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2356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23560" y="3931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 la UI falla, ECS Fargate recrea la tarea en segundos.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Vectorial y Razonamiento RAG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base de conocimiento sin gestión de servidores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840480" cy="2834640"/>
          </a:xfrm>
          <a:prstGeom prst="rect">
            <a:avLst/>
          </a:prstGeom>
          <a:solidFill>
            <a:srgbClr val="131B2E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3291840" cy="640080"/>
          </a:xfrm>
          <a:prstGeom prst="rect">
            <a:avLst/>
          </a:prstGeom>
          <a:solidFill>
            <a:srgbClr val="00D4AA">
              <a:alpha val="15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50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K.N.N + Amazon Titan Embeddings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329184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273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S3 → Chunking → Guardado Automático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3291840" cy="640080"/>
          </a:xfrm>
          <a:prstGeom prst="rect">
            <a:avLst/>
          </a:prstGeom>
          <a:solidFill>
            <a:srgbClr val="8B5CF6">
              <a:alpha val="15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Lite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096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Inferencia RAG — Síntesis de Respuestas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7432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6888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54864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Colección Vectorial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Indexación K.N.N con embeddings de Amazon Titan para búsqueda semántica.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33472"/>
            <a:ext cx="5486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633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Inteligente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889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Conexión nativa de Bedrock KB con S3 para chunking y guardado automático.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46704"/>
            <a:ext cx="54864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346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RAG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602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Modelo Amazon Nova Lite sintetiza respuestas fundamentadas en documentos.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4059936"/>
            <a:ext cx="54864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Estricta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IAM Policies de mínimos privilegios con permisos cifrados.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solidFill>
            <a:srgbClr val="00D4AA">
              <a:alpha val="30000"/>
            </a:srgbClr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una Consulta RAG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Paso a paso desde que el usuario pregunta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1554480" cy="2560320"/>
          </a:xfrm>
          <a:prstGeom prst="rect">
            <a:avLst/>
          </a:prstGeom>
          <a:solidFill>
            <a:srgbClr val="131B2E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usuario escribe en la interfaz Streamlit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32918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2011680"/>
            <a:ext cx="1554480" cy="2560320"/>
          </a:xfrm>
          <a:prstGeom prst="rect">
            <a:avLst/>
          </a:prstGeom>
          <a:solidFill>
            <a:srgbClr val="131B2E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06040" y="21945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945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9456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Streamlit llama al agente Bedrock/LangGraph via boto3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2918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0" y="2011680"/>
            <a:ext cx="1554480" cy="2560320"/>
          </a:xfrm>
          <a:prstGeom prst="rect">
            <a:avLst/>
          </a:prstGeom>
          <a:solidFill>
            <a:srgbClr val="131B2E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43400" y="219456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43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319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agente recupera fragmentos de OpenSearch Serverless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2918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77840" y="2011680"/>
            <a:ext cx="1554480" cy="2560320"/>
          </a:xfrm>
          <a:prstGeom prst="rect">
            <a:avLst/>
          </a:prstGeom>
          <a:solidFill>
            <a:srgbClr val="131B2E"/>
          </a:solidFill>
          <a:ln w="635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0760" y="21945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07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692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Nova Lite genera la respuesta basada en las fuentes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0" y="329184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0" y="2011680"/>
            <a:ext cx="1554480" cy="2560320"/>
          </a:xfrm>
          <a:prstGeom prst="rect">
            <a:avLst/>
          </a:prstGeom>
          <a:solidFill>
            <a:srgbClr val="131B2E"/>
          </a:solidFill>
          <a:ln w="6350">
            <a:solidFill>
              <a:srgbClr val="10B981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21945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181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0664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0664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Respuesta + citas textuales en streaming a la UI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Groundedness en LangGraph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Garantizar que la IA no invente datos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023360" cy="1097280"/>
          </a:xfrm>
          <a:prstGeom prst="rect">
            <a:avLst/>
          </a:prstGeom>
          <a:solidFill>
            <a:srgbClr val="131B2E"/>
          </a:solidFill>
          <a:ln w="6350">
            <a:solidFill>
              <a:srgbClr val="10B981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RAG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Filtros que analizan la respuesta frente al texto original del PDF fuente. Cada respuesta se valida antes de ser mostrada al usuario.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4023360" cy="1554480"/>
          </a:xfrm>
          <a:prstGeom prst="rect">
            <a:avLst/>
          </a:prstGeom>
          <a:solidFill>
            <a:srgbClr val="131B2E"/>
          </a:solidFill>
          <a:ln/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de Confianza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739896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texto recuperado sustenta 100% la respuesta.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087368"/>
            <a:ext cx="228600" cy="2286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4050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Parcial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4050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Contiene inferencias no directas.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348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3000" y="4398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398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Alucinación potencial — no se ancla en los documentos.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920240"/>
            <a:ext cx="3931920" cy="2880360"/>
          </a:xfrm>
          <a:prstGeom prst="rect">
            <a:avLst/>
          </a:prstGeom>
          <a:solidFill>
            <a:srgbClr val="131B2E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19202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Citación de Fuentes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respuesta incluye el fragmento oficial del documento original con referencia a su ubicación en S3.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3200400"/>
            <a:ext cx="3474720" cy="1371600"/>
          </a:xfrm>
          <a:prstGeom prst="rect">
            <a:avLst/>
          </a:prstGeom>
          <a:solidFill>
            <a:srgbClr val="0D111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74920" y="3200400"/>
            <a:ext cx="54864" cy="13716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5780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s3://docs/politica-v3.pdf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procedimiento de aprobación requiere la firma de dos directores antes de proceder con la implementación..."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y CI/CD Automatizado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Actualizaciones sencillas y continuas en caliente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131B2E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039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Compilación local de la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2057400"/>
            <a:ext cx="420624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51960" y="2057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ecr-repo-url:latest 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51560" y="27889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131B2E"/>
          </a:solidFill>
          <a:ln w="6350">
            <a:solidFill>
              <a:srgbClr val="8B5C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Push al registro seguro de ECR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063240"/>
            <a:ext cx="420624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51960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ecr-repo-url:latest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" y="37947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solidFill>
            <a:srgbClr val="131B2E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08760" y="40507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Despliegue Zero-Downtime en ECS Fargate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4069080"/>
            <a:ext cx="4206240" cy="640080"/>
          </a:xfrm>
          <a:prstGeom prst="rect">
            <a:avLst/>
          </a:prstGeom>
          <a:solidFill>
            <a:srgbClr val="0D1117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5196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ecs update-service --cluster UI-Cluster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--service Streamlit-Service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--force-new-deployment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del Proyecto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Claves para llevar a casa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931920" cy="1005840"/>
          </a:xfrm>
          <a:prstGeom prst="rect">
            <a:avLst/>
          </a:prstGeom>
          <a:solidFill>
            <a:srgbClr val="131B2E"/>
          </a:solidFill>
          <a:ln w="6350">
            <a:solidFill>
              <a:srgbClr val="00D4AA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93192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es Rey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AOSS y Bedrock eliminan la sobrecarga de administración.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1005840"/>
          </a:xfrm>
          <a:prstGeom prst="rect">
            <a:avLst/>
          </a:prstGeom>
          <a:solidFill>
            <a:srgbClr val="131B2E"/>
          </a:solidFill>
          <a:ln w="6350">
            <a:solidFill>
              <a:srgbClr val="3B82F6">
                <a:alpha val="4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se mide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834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validación RAG es obligatoria para sistemas profesionales.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8046720" cy="1645920"/>
          </a:xfrm>
          <a:prstGeom prst="rect">
            <a:avLst/>
          </a:prstGeom>
          <a:solidFill>
            <a:srgbClr val="00D4AA">
              <a:alpha val="12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manejas las alucinaciones en tus aplicaciones de IA?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749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D4A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Escribe en los comentarios o comparte para ayudar a otros desarrolladores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Vizcaya  |  linkedin.com/in/luisvizcaya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669</Words>
  <Application>Microsoft Office PowerPoint</Application>
  <PresentationFormat>On-screen Show (16:9)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Despliegue RAG en AWS</dc:title>
  <dc:subject>PptxGenJS Presentation</dc:subject>
  <dc:creator>Luis Vizcaya</dc:creator>
  <cp:lastModifiedBy>Vizcaya, Luis A</cp:lastModifiedBy>
  <cp:revision>2</cp:revision>
  <dcterms:created xsi:type="dcterms:W3CDTF">2026-06-21T15:04:58Z</dcterms:created>
  <dcterms:modified xsi:type="dcterms:W3CDTF">2026-06-21T20:59:58Z</dcterms:modified>
</cp:coreProperties>
</file>